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92300a250f46e3" /><Relationship Type="http://schemas.openxmlformats.org/officeDocument/2006/relationships/extended-properties" Target="/docProps/app.xml" Id="R171fd25fe6aa4622" /><Relationship Type="http://schemas.openxmlformats.org/officeDocument/2006/relationships/officeDocument" Target="/ppt/presentation.xml" Id="R0a3acbc3637342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268550813d4c85"/>
  </p:sldMasterIdLst>
  <p:notesMasterIdLst>
    <p:notesMasterId xmlns:r="http://schemas.openxmlformats.org/officeDocument/2006/relationships" r:id="R983d6524807443c7"/>
  </p:notesMasterIdLst>
  <p:sldIdLst>
    <p:sldId xmlns:r="http://schemas.openxmlformats.org/officeDocument/2006/relationships" id="256" r:id="Re3e05a8c577d4ddc"/>
    <p:sldId xmlns:r="http://schemas.openxmlformats.org/officeDocument/2006/relationships" id="257" r:id="Rd3d5c3094eb74fe4"/>
    <p:sldId xmlns:r="http://schemas.openxmlformats.org/officeDocument/2006/relationships" id="258" r:id="R73ad026952954425"/>
    <p:sldId xmlns:r="http://schemas.openxmlformats.org/officeDocument/2006/relationships" id="259" r:id="Rd83bb0bbb5d84531"/>
    <p:sldId xmlns:r="http://schemas.openxmlformats.org/officeDocument/2006/relationships" id="260" r:id="Rae6d75d358ce4652"/>
    <p:sldId xmlns:r="http://schemas.openxmlformats.org/officeDocument/2006/relationships" id="261" r:id="R092d17bb26db4c7d"/>
    <p:sldId xmlns:r="http://schemas.openxmlformats.org/officeDocument/2006/relationships" id="262" r:id="Rb249e1842e6f42e4"/>
    <p:sldId xmlns:r="http://schemas.openxmlformats.org/officeDocument/2006/relationships" id="263" r:id="R96e0a1df25714ec0"/>
    <p:sldId xmlns:r="http://schemas.openxmlformats.org/officeDocument/2006/relationships" id="264" r:id="R91c1dd700d0641cf"/>
    <p:sldId xmlns:r="http://schemas.openxmlformats.org/officeDocument/2006/relationships" id="265" r:id="R60a78a0a52f24cc2"/>
    <p:sldId xmlns:r="http://schemas.openxmlformats.org/officeDocument/2006/relationships" id="266" r:id="R0238009c5bf04dac"/>
    <p:sldId xmlns:r="http://schemas.openxmlformats.org/officeDocument/2006/relationships" id="267" r:id="R1f17179ad22147ac"/>
    <p:sldId xmlns:r="http://schemas.openxmlformats.org/officeDocument/2006/relationships" id="268" r:id="R122df8be6892490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268550813d4c85" /><Relationship Type="http://schemas.openxmlformats.org/officeDocument/2006/relationships/theme" Target="/ppt/theme/theme1.xml" Id="R86ea173cb20a4565" /><Relationship Type="http://schemas.openxmlformats.org/officeDocument/2006/relationships/notesMaster" Target="/ppt/notesMasters/notesMaster1.xml" Id="R983d6524807443c7" /><Relationship Type="http://schemas.openxmlformats.org/officeDocument/2006/relationships/presProps" Target="/ppt/presProps.xml" Id="Rf3acc8f94efb4de9" /><Relationship Type="http://schemas.openxmlformats.org/officeDocument/2006/relationships/viewProps" Target="/ppt/viewProps.xml" Id="R1f7439bdc87446e3" /><Relationship Type="http://schemas.openxmlformats.org/officeDocument/2006/relationships/tableStyles" Target="/ppt/tableStyles.xml" Id="R5515958071314cdf" /><Relationship Type="http://schemas.openxmlformats.org/officeDocument/2006/relationships/slide" Target="/ppt/slides/slide1.xml" Id="Re3e05a8c577d4ddc" /><Relationship Type="http://schemas.openxmlformats.org/officeDocument/2006/relationships/slide" Target="/ppt/slides/slide2.xml" Id="Rd3d5c3094eb74fe4" /><Relationship Type="http://schemas.openxmlformats.org/officeDocument/2006/relationships/slide" Target="/ppt/slides/slide3.xml" Id="R73ad026952954425" /><Relationship Type="http://schemas.openxmlformats.org/officeDocument/2006/relationships/slide" Target="/ppt/slides/slide4.xml" Id="Rd83bb0bbb5d84531" /><Relationship Type="http://schemas.openxmlformats.org/officeDocument/2006/relationships/slide" Target="/ppt/slides/slide5.xml" Id="Rae6d75d358ce4652" /><Relationship Type="http://schemas.openxmlformats.org/officeDocument/2006/relationships/slide" Target="/ppt/slides/slide6.xml" Id="R092d17bb26db4c7d" /><Relationship Type="http://schemas.openxmlformats.org/officeDocument/2006/relationships/slide" Target="/ppt/slides/slide7.xml" Id="Rb249e1842e6f42e4" /><Relationship Type="http://schemas.openxmlformats.org/officeDocument/2006/relationships/slide" Target="/ppt/slides/slide8.xml" Id="R96e0a1df25714ec0" /><Relationship Type="http://schemas.openxmlformats.org/officeDocument/2006/relationships/slide" Target="/ppt/slides/slide9.xml" Id="R91c1dd700d0641cf" /><Relationship Type="http://schemas.openxmlformats.org/officeDocument/2006/relationships/slide" Target="/ppt/slides/slide10.xml" Id="R60a78a0a52f24cc2" /><Relationship Type="http://schemas.openxmlformats.org/officeDocument/2006/relationships/slide" Target="/ppt/slides/slide11.xml" Id="R0238009c5bf04dac" /><Relationship Type="http://schemas.openxmlformats.org/officeDocument/2006/relationships/slide" Target="/ppt/slides/slide12.xml" Id="R1f17179ad22147ac" /><Relationship Type="http://schemas.openxmlformats.org/officeDocument/2006/relationships/slide" Target="/ppt/slides/slide13.xml" Id="R122df8be689249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3e048c9890e47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934829ed104b8d" /><Relationship Type="http://schemas.openxmlformats.org/officeDocument/2006/relationships/notesMaster" Target="/ppt/notesMasters/notesMaster1.xml" Id="R230f364711fc43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07626d261e40e7" /><Relationship Type="http://schemas.openxmlformats.org/officeDocument/2006/relationships/notesMaster" Target="/ppt/notesMasters/notesMaster1.xml" Id="R778de45c582c49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115e71ad604daf" /><Relationship Type="http://schemas.openxmlformats.org/officeDocument/2006/relationships/notesMaster" Target="/ppt/notesMasters/notesMaster1.xml" Id="R9461cb8aa91a4a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5511cd18d644b2" /><Relationship Type="http://schemas.openxmlformats.org/officeDocument/2006/relationships/notesMaster" Target="/ppt/notesMasters/notesMaster1.xml" Id="R6bc202b6926d42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f7b58b1009444c" /><Relationship Type="http://schemas.openxmlformats.org/officeDocument/2006/relationships/notesMaster" Target="/ppt/notesMasters/notesMaster1.xml" Id="Rada9a68fd08943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b40eef33f047e5" /><Relationship Type="http://schemas.openxmlformats.org/officeDocument/2006/relationships/notesMaster" Target="/ppt/notesMasters/notesMaster1.xml" Id="R28ee266bda404d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3e9c605a00408e" /><Relationship Type="http://schemas.openxmlformats.org/officeDocument/2006/relationships/notesMaster" Target="/ppt/notesMasters/notesMaster1.xml" Id="Ra292ef4f5bb64c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692d06cf2948de" /><Relationship Type="http://schemas.openxmlformats.org/officeDocument/2006/relationships/notesMaster" Target="/ppt/notesMasters/notesMaster1.xml" Id="R0af9616d34aa40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95b25705894620" /><Relationship Type="http://schemas.openxmlformats.org/officeDocument/2006/relationships/notesMaster" Target="/ppt/notesMasters/notesMaster1.xml" Id="R814cc3b9a1ac45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e82ada94fe4ad0" /><Relationship Type="http://schemas.openxmlformats.org/officeDocument/2006/relationships/notesMaster" Target="/ppt/notesMasters/notesMaster1.xml" Id="R138290687d3840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dd49006dd54a9e" /><Relationship Type="http://schemas.openxmlformats.org/officeDocument/2006/relationships/notesMaster" Target="/ppt/notesMasters/notesMaster1.xml" Id="R0bdcbbacd90e48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34f4604b984a06" /><Relationship Type="http://schemas.openxmlformats.org/officeDocument/2006/relationships/notesMaster" Target="/ppt/notesMasters/notesMaster1.xml" Id="R76e83add28c542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d5238471b4401c" /><Relationship Type="http://schemas.openxmlformats.org/officeDocument/2006/relationships/notesMaster" Target="/ppt/notesMasters/notesMaster1.xml" Id="Rb3a68e37ef1247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aa41218706474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399d647cf5b47c4" /><Relationship Type="http://schemas.openxmlformats.org/officeDocument/2006/relationships/slideLayout" Target="/ppt/slideLayouts/slideLayout2.xml" Id="R9df79aefd80a41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f79aefd80a41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5a02cc7f9b4dfe" /><Relationship Type="http://schemas.openxmlformats.org/officeDocument/2006/relationships/notesSlide" Target="/ppt/notesSlides/notesSlide1.xml" Id="R8fdec6873c5c41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6e43f3cecd4ea9" /><Relationship Type="http://schemas.openxmlformats.org/officeDocument/2006/relationships/notesSlide" Target="/ppt/notesSlides/notesSlide2.xml" Id="Rdcf5a44e3edf40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a152a89f3f4014" /><Relationship Type="http://schemas.openxmlformats.org/officeDocument/2006/relationships/notesSlide" Target="/ppt/notesSlides/notesSlide3.xml" Id="R9d44365d0aa646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0d33a6373c4fd2" /><Relationship Type="http://schemas.openxmlformats.org/officeDocument/2006/relationships/notesSlide" Target="/ppt/notesSlides/notesSlide4.xml" Id="R6e71515d732e44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2894cca9ee445b" /><Relationship Type="http://schemas.openxmlformats.org/officeDocument/2006/relationships/image" Target="/ppt/media/image.png" Id="Rf45575884a6143a2" /><Relationship Type="http://schemas.openxmlformats.org/officeDocument/2006/relationships/notesSlide" Target="/ppt/notesSlides/notesSlide5.xml" Id="Rf629edbdad1b45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68f17b89464ef2" /><Relationship Type="http://schemas.openxmlformats.org/officeDocument/2006/relationships/image" Target="/ppt/media/image2.png" Id="Rc4b48c5108f64f34" /><Relationship Type="http://schemas.openxmlformats.org/officeDocument/2006/relationships/notesSlide" Target="/ppt/notesSlides/notesSlide6.xml" Id="R45c26911a21143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1ff3aab5f6447b" /><Relationship Type="http://schemas.openxmlformats.org/officeDocument/2006/relationships/image" Target="/ppt/media/image3.png" Id="R80ad782eca6341d8" /><Relationship Type="http://schemas.openxmlformats.org/officeDocument/2006/relationships/notesSlide" Target="/ppt/notesSlides/notesSlide7.xml" Id="R8321524f22414f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a179a72fea483c" /><Relationship Type="http://schemas.openxmlformats.org/officeDocument/2006/relationships/notesSlide" Target="/ppt/notesSlides/notesSlide8.xml" Id="R2bf95eeb38bc46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9195742de84f5e" /><Relationship Type="http://schemas.openxmlformats.org/officeDocument/2006/relationships/notesSlide" Target="/ppt/notesSlides/notesSlide9.xml" Id="R74f0145a531a49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a1110d9509423d" /><Relationship Type="http://schemas.openxmlformats.org/officeDocument/2006/relationships/notesSlide" Target="/ppt/notesSlides/notesSlide10.xml" Id="R4934325c701d40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7eb74db8e04298" /><Relationship Type="http://schemas.openxmlformats.org/officeDocument/2006/relationships/notesSlide" Target="/ppt/notesSlides/notesSlide11.xml" Id="R6e49aa54c05e43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2941478f544c92" /><Relationship Type="http://schemas.openxmlformats.org/officeDocument/2006/relationships/notesSlide" Target="/ppt/notesSlides/notesSlide12.xml" Id="R59f54a286fb14d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b44ba225ce4da2" /><Relationship Type="http://schemas.openxmlformats.org/officeDocument/2006/relationships/notesSlide" Target="/ppt/notesSlides/notesSlide13.xml" Id="Rcae9293add464b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42599C-1B74-42F9-A8DF-04650ED1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290FF-F723-4A44-B1A5-61FCEA5C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B2D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1E7E2-8935-447D-A679-18F157CB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1FA4A-4375-47B3-965C-03AA8693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54994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0DA33-C44F-481A-8CD8-8F931D39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5250"/>
            <a:ext cx="150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Pitch entrepreneurial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C15B8-580B-40AB-A3B5-89D1F581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294" y="0"/>
            <a:ext cx="878205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F2803-650F-41BD-836B-89A9904A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5250"/>
            <a:ext cx="53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 + IoT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C97BD-559A-4180-B3D0-14E085A9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334500" cy="211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Smart Restaurant</a:t>
            </a:r>
          </a:p>
          <a:p xmlns:a="http://schemas.openxmlformats.org/drawingml/2006/main">
            <a:pPr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Operating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54BF8-8EA8-4449-A898-6B316A7C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8648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CBD5E1"/>
                </a:solidFill>
              </a:defRPr>
            </a:pPr>
            <a:r>
              <a:rPr sz="2175">
                <a:solidFill>
                  <a:srgbClr val="CBD5E1"/>
                </a:solidFill>
              </a:rPr>
              <a:t>Un système intelligent qui aide les restaurants à gérer les tables, les clients, la cuisine, le staff et les caméras en temps réel.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BBA08-5DC7-41D4-8F3D-5823C93D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35623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94A3B8"/>
                </a:solidFill>
              </a:defRPr>
            </a:pPr>
            <a:r>
              <a:rPr sz="1650">
                <a:solidFill>
                  <a:srgbClr val="94A3B8"/>
                </a:solidFill>
              </a:rPr>
              <a:t>Réalisé par : [Nom 1] • [Nom 2] • [Nom 3]</a:t>
            </a:r>
          </a:p>
          <a:p xmlns:a="http://schemas.openxmlformats.org/drawingml/2006/main">
            <a:pPr>
              <a:defRPr sz="1650">
                <a:solidFill>
                  <a:srgbClr val="94A3B8"/>
                </a:solidFill>
              </a:defRPr>
            </a:pPr>
            <a:r>
              <a:rPr sz="1650">
                <a:solidFill>
                  <a:srgbClr val="94A3B8"/>
                </a:solidFill>
              </a:rPr>
              <a:t>Module d’entrepreneuriat •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280E1-880E-40D4-B240-70658DA4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2C55E"/>
                </a:solidFill>
              </a:defRPr>
            </a:pPr>
            <a:r>
              <a:rPr sz="4200" b="1">
                <a:solidFill>
                  <a:srgbClr val="22C55E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8773D-544D-4223-81F2-E4D0101C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BD5E1"/>
                </a:solidFill>
              </a:defRPr>
            </a:pPr>
            <a:r>
              <a:rPr sz="1500">
                <a:solidFill>
                  <a:srgbClr val="CBD5E1"/>
                </a:solidFill>
              </a:rPr>
              <a:t>cerveau centralisé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A493C-3CE7-4960-B2C4-4FDFCCD6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5334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93C5FD"/>
                </a:solidFill>
              </a:defRPr>
            </a:pPr>
            <a:r>
              <a:rPr sz="4200" b="1">
                <a:solidFill>
                  <a:srgbClr val="93C5FD"/>
                </a:solidFill>
              </a:rPr>
              <a:t>3+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A3B22-69EE-4243-8A72-6EE7B5CB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BD5E1"/>
                </a:solidFill>
              </a:defRPr>
            </a:pPr>
            <a:r>
              <a:rPr sz="1500">
                <a:solidFill>
                  <a:srgbClr val="CBD5E1"/>
                </a:solidFill>
              </a:rPr>
              <a:t>caméras / capteurs fusionnés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20B64-E1E0-437E-AB55-F37DAB86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5334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BBF24"/>
                </a:solidFill>
              </a:defRPr>
            </a:pPr>
            <a:r>
              <a:rPr sz="4200" b="1">
                <a:solidFill>
                  <a:srgbClr val="FBBF24"/>
                </a:solidFill>
              </a:rPr>
              <a:t>24/7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E7455-66AA-4D29-A06B-5E7C5AC2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BD5E1"/>
                </a:solidFill>
              </a:defRPr>
            </a:pPr>
            <a:r>
              <a:rPr sz="1500">
                <a:solidFill>
                  <a:srgbClr val="CBD5E1"/>
                </a:solidFill>
              </a:rPr>
              <a:t>assistant opérationnel</a:t>
            </a:r>
          </a:p>
        </p:txBody>
      </p:sp>
    </p:spTree>
    <p:extLst>
      <p:ext uri="{BB962C8B-B14F-4D97-AF65-F5344CB8AC3E}">
        <p14:creationId xmlns:p14="http://schemas.microsoft.com/office/powerpoint/2010/main" val="18963436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C4C764-07A6-4F6D-8328-B15DE69B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2857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Le problème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ECFCC9E-D7F5-48D2-9B9D-A8F63F0E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1010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Dans un restaurant, tout change vite : clients, tables, commandes, cuisine, staff. Mais les décisions restent souvent manuelles.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F9CC9-47FE-460D-A3BD-1B0A8C9F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C2626"/>
                </a:solidFill>
              </a:defRPr>
            </a:pPr>
            <a:r>
              <a:rPr sz="2100" b="1">
                <a:solidFill>
                  <a:srgbClr val="DC2626"/>
                </a:solidFill>
              </a:rPr>
              <a:t>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0085D-20FC-46E6-912C-6BAF6D2E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Clients qui attendent sans visibilité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7FF9F-BE9E-46B0-85A2-077DD46C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C2626"/>
                </a:solidFill>
              </a:defRPr>
            </a:pPr>
            <a:r>
              <a:rPr sz="2100" b="1">
                <a:solidFill>
                  <a:srgbClr val="DC2626"/>
                </a:solidFill>
              </a:rPr>
              <a:t>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68340-A2EF-4BD4-9570-2F1FBE03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5760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Tables libres ou sales non détectées rapidement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7156F-14F4-4828-A72C-5383C102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C2626"/>
                </a:solidFill>
              </a:defRPr>
            </a:pPr>
            <a:r>
              <a:rPr sz="2100" b="1">
                <a:solidFill>
                  <a:srgbClr val="DC2626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F9A78-8CA3-424B-A6D9-AD803BF1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5290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Priorités différentes entre host, serveur et cuisine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8BA08-3878-4FDD-97CC-475BF426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9279A-DB7F-48FA-9A91-3453AB38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8135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Retards cuisine découverts trop tard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AECE9-0A2E-484E-8F8D-19D2895B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FF161-EF72-4442-BB55-12F02042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5760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Caméras utilisées seulement pour surveiller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24284-C620-43E1-A3A9-53A06C97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5290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52A5B-99E3-4B52-8D19-386CCD58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5290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Peu d’aide à la décision pendant les rushs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6637F-C02B-4ECC-A110-EA7C110D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1813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D8AAEA-271D-4403-A3D9-C8DEC4A0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18135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Managers réactifs au lieu d’être proactifs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4EF8B-89BD-4A16-9379-B587F47C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5760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9F773-D74E-4EA6-ABF0-16C28FBA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65760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Perte de temps et de rotation des tables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17FFBD-79A1-4C36-910B-9C67B6E8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15290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FC39C-9C8C-4B96-83C9-1BE9B928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15290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Expérience client moins stable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F47A0-830D-417D-BF2F-2762C6F5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F9F1A-E772-459A-ABDE-85AF893A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4297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98331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32FD4D-8084-4DEE-B525-DE26F6BC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33147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Notre solution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BF9F84D-CEF7-4A8D-AF70-69EDC43E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Une plateforme qui transforme les signaux du restaurant en actions concrètes pour le staff.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1DFB9-0A01-4C58-A0A4-CA0B208B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8039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2C55E"/>
                </a:solidFill>
              </a:defRPr>
            </a:pPr>
            <a:r>
              <a:rPr sz="4200" b="1">
                <a:solidFill>
                  <a:srgbClr val="22C55E"/>
                </a:solidFill>
              </a:rPr>
              <a:t>Next best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D9926-6E48-412F-8623-790B9C4B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803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une action claire à faire maintenant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6FC6C-40DF-461F-B742-254FEAB1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8039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563EB"/>
                </a:solidFill>
              </a:defRPr>
            </a:pPr>
            <a:r>
              <a:rPr sz="4200" b="1">
                <a:solidFill>
                  <a:srgbClr val="2563EB"/>
                </a:solidFill>
              </a:rPr>
              <a:t>Digital twin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2585C-233E-4265-913F-804CDD06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803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une carte vivante du restaurant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08A0F-A4BF-4E6B-87F3-5990D2CF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8039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9E0B"/>
                </a:solidFill>
              </a:defRPr>
            </a:pPr>
            <a:r>
              <a:rPr sz="4200" b="1">
                <a:solidFill>
                  <a:srgbClr val="F59E0B"/>
                </a:solidFill>
              </a:rPr>
              <a:t>IA explicable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F5F62-C1BF-4818-9D0A-7094A88B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48400"/>
            <a:ext cx="803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chaque recommandation explique son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F1495-9815-4673-AEAC-F894E1A2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77669-ECC5-4D16-BD13-721F51A1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43250"/>
            <a:ext cx="765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Le système suit le cycle complet du client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9D405-5790-47AE-8D86-1C056BC5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1950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A1997-9CBB-4074-8D8B-F3A55FC8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19500"/>
            <a:ext cx="765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Il priorise les tâches selon l’urgence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6BA1C-2B07-42CC-A173-E0492C47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1480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9AE0A-7234-4357-9CA3-42A5E990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14800"/>
            <a:ext cx="765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Il assigne les tâches au staff disponible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90722-C3FB-4E1D-B496-7C8DAB49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1010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60B5C-17E8-4A12-AC35-C2437D50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610100"/>
            <a:ext cx="765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Il détecte la surcharge avant qu’elle devienne un problème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2B392-F0A3-42B4-A7F7-7AFEF4E9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578E5E-00CA-41AD-BDDE-34848701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4297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373055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736038-8E53-4C86-88F4-52C73D48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7219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Comment notre app fonctionne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4E208C9-F256-490E-8FA7-944BAF43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448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Tous les signaux sont centralisés pour créer une seule logique opérationnelle.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ECDF2-094A-46CF-BCB1-3BE240BB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943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45110-B905-4692-A600-5ABD0AA7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943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7"/>
                </a:solidFill>
              </a:defRPr>
            </a:pPr>
            <a:r>
              <a:rPr sz="2550" b="1">
                <a:solidFill>
                  <a:srgbClr val="101827"/>
                </a:solidFill>
              </a:rPr>
              <a:t>Entrées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24C48-7126-45AD-A76F-A895F555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71AE8-2685-4364-A1ED-32867028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394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77A"/>
                </a:solidFill>
              </a:defRPr>
            </a:pPr>
            <a:r>
              <a:rPr sz="1725">
                <a:solidFill>
                  <a:srgbClr val="5B677A"/>
                </a:solidFill>
              </a:rPr>
              <a:t>caméras, capteurs, POS, staff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ED1E0-3404-446C-B039-9A5C6F34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47900"/>
            <a:ext cx="3943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6658A-DD8F-4072-A8F2-C760C2C6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71800"/>
            <a:ext cx="3943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7"/>
                </a:solidFill>
              </a:defRPr>
            </a:pPr>
            <a:r>
              <a:rPr sz="2550" b="1">
                <a:solidFill>
                  <a:srgbClr val="101827"/>
                </a:solidFill>
              </a:rPr>
              <a:t>Digital twin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94375-EB56-4B57-A541-B3EB1D49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242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384F7-575F-4876-B7F0-4B8AA143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52850"/>
            <a:ext cx="394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77A"/>
                </a:solidFill>
              </a:defRPr>
            </a:pPr>
            <a:r>
              <a:rPr sz="1725">
                <a:solidFill>
                  <a:srgbClr val="5B677A"/>
                </a:solidFill>
              </a:rPr>
              <a:t>tables, clients, zones, états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02355-05DC-4AD9-BD6F-99457359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47900"/>
            <a:ext cx="3943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2C55E"/>
                </a:solidFill>
              </a:defRPr>
            </a:pPr>
            <a:r>
              <a:rPr sz="3600" b="1">
                <a:solidFill>
                  <a:srgbClr val="22C55E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18BB4-744B-453D-B810-A54FBF61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71800"/>
            <a:ext cx="3943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7"/>
                </a:solidFill>
              </a:defRPr>
            </a:pPr>
            <a:r>
              <a:rPr sz="2550" b="1">
                <a:solidFill>
                  <a:srgbClr val="101827"/>
                </a:solidFill>
              </a:rPr>
              <a:t>Cerveau 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4468B-C790-4A8F-9681-6EDD71AF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242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ED028-3FEA-4025-B4A4-CE02B249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52850"/>
            <a:ext cx="394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77A"/>
                </a:solidFill>
              </a:defRPr>
            </a:pPr>
            <a:r>
              <a:rPr sz="1725">
                <a:solidFill>
                  <a:srgbClr val="5B677A"/>
                </a:solidFill>
              </a:rPr>
              <a:t>règles, optimisation, prédiction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46EF6-CBCD-46F6-8F11-2329ABC4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247900"/>
            <a:ext cx="3943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B914E-56F3-4A4C-BAC7-7243A4A1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971800"/>
            <a:ext cx="3943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7"/>
                </a:solidFill>
              </a:defRPr>
            </a:pPr>
            <a:r>
              <a:rPr sz="2550" b="1">
                <a:solidFill>
                  <a:srgbClr val="101827"/>
                </a:solidFill>
              </a:rPr>
              <a:t>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A2718-DBA8-497B-8B5D-2C381E64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5242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ADEED1-F517-43B7-8304-02253E91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752850"/>
            <a:ext cx="394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77A"/>
                </a:solidFill>
              </a:defRPr>
            </a:pPr>
            <a:r>
              <a:rPr sz="1725">
                <a:solidFill>
                  <a:srgbClr val="5B677A"/>
                </a:solidFill>
              </a:rPr>
              <a:t>guidage tablette et confirmations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7E537-F455-4DA4-B131-863433C4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37F48-CD49-4068-A486-A15CE623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4297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219137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0B5956-0EDA-4D63-892D-94986EA3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7677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Démo 1 — Assistant opérationnel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BB81BF4-3408-4A61-8FAF-B75D4B8A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9029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La première page répond à la question la plus importante : que doit faire le staff maintenant ?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575884a6143a2"/>
          <a:stretch xmlns:a="http://schemas.openxmlformats.org/drawingml/2006/main"/>
        </p:blipFill>
        <p:spPr>
          <a:xfrm xmlns:a="http://schemas.openxmlformats.org/drawingml/2006/main">
            <a:off x="876300" y="2263140"/>
            <a:ext cx="16535400" cy="698754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FF2D9-2B97-4D9A-969C-7DAB9BD0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440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7DFB9-C329-4812-8293-06F24DB3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5440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24669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EC9E02-2FA1-4CD1-9BED-4254C076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7810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Démo 2 — Cerveau multi-caméras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DEE0A40-FFDC-4BCC-BCCB-70BCFE12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0896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Plusieurs caméras sont vues comme un seul cerveau centralisé pour comprendre la charge globale du restaurant.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48c5108f64f34"/>
          <a:stretch xmlns:a="http://schemas.openxmlformats.org/drawingml/2006/main"/>
        </p:blipFill>
        <p:spPr>
          <a:xfrm xmlns:a="http://schemas.openxmlformats.org/drawingml/2006/main">
            <a:off x="876300" y="2926080"/>
            <a:ext cx="16535400" cy="6324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17CAE-DC42-4855-AB41-DF1FFAD8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440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46851-8671-4C16-B92C-A621162F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5440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89090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82A535-9B58-42D9-8298-FFD886D0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57721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Démo 3 — POS et cuisine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8E49A2D-C4EC-4BD5-8F60-A0E51908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1487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La cuisine n’est pas séparée : les commandes, les retards et les plats prêts influencent directement les priorités du staff.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d782eca6341d8"/>
          <a:stretch xmlns:a="http://schemas.openxmlformats.org/drawingml/2006/main"/>
        </p:blipFill>
        <p:spPr>
          <a:xfrm xmlns:a="http://schemas.openxmlformats.org/drawingml/2006/main">
            <a:off x="876300" y="2640330"/>
            <a:ext cx="16535400" cy="6610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AC6DD-DEC0-4CF7-A792-9BF7B885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440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70E74-9E75-41E1-A09E-68E7150D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5440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38105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9451E4-C74E-4F18-88F2-78A88F26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2514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Notre cible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223C650-B058-498F-95C4-693996D0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0344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Nous visons les restaurants qui ont assez de complexité pour avoir besoin d’un système d’aide à la décision.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A02A0-C575-4C2D-9FFD-B0372562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5238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2C55E"/>
                </a:solidFill>
              </a:defRPr>
            </a:pPr>
            <a:r>
              <a:rPr sz="4200" b="1">
                <a:solidFill>
                  <a:srgbClr val="22C55E"/>
                </a:solidFill>
              </a:rPr>
              <a:t>Restaurants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ED5C2-0F10-4279-B3BD-458B89F7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523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20 à 80 couverts, service rapide ou casual dining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38312-638A-46BF-8857-DFCD35CA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271EA-0A69-4B27-A0D8-8FE51E08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flux clients important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8133F-4021-4494-AB2F-2C30A32B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DCC4A-5633-44AB-8411-E63E1542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rotation des tables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ABBB9-8C5C-40AD-BBD0-709BC43A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443F2-70A3-45B3-9CC3-B724E21C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besoin de coordination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8F329-7319-4968-8750-B9DA57FE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28850"/>
            <a:ext cx="5238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563EB"/>
                </a:solidFill>
              </a:defRPr>
            </a:pPr>
            <a:r>
              <a:rPr sz="4200" b="1">
                <a:solidFill>
                  <a:srgbClr val="2563EB"/>
                </a:solidFill>
              </a:rPr>
              <a:t>Chaînes locales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19087-C015-4E84-AD02-09A133B7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14650"/>
            <a:ext cx="523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plusieurs points de vente à standardiser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904B0-4980-4797-96A0-5F5C1BF5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337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CF2BF-C617-442D-BB65-7BBAD126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3375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suivi multi-sites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667AE-B270-456E-A080-5B12EEA4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290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A9A82-E2E6-426B-9031-3191B430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2905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reporting manager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F0A33-2ECC-4546-948A-CEBAB731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243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28750-2790-4668-92BE-795D0BE7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2435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formation staff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6DD90-CD22-4D62-AC06-F5731A8A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228850"/>
            <a:ext cx="5238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9E0B"/>
                </a:solidFill>
              </a:defRPr>
            </a:pPr>
            <a:r>
              <a:rPr sz="4200" b="1">
                <a:solidFill>
                  <a:srgbClr val="F59E0B"/>
                </a:solidFill>
              </a:rPr>
              <a:t>Hôtels / cafés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8B049-74F0-403C-82C9-0A18DD18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914650"/>
            <a:ext cx="523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zones de service multiples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E7CA97-A23C-4EBF-805B-A5BF68D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3337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4D6B85-81B2-4541-BFF1-18CB90B1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33375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petit-déjeuner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6FC781-C4F4-43C4-A583-36B67C59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8290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5BEBBE-4464-483A-81FC-925DACEE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82905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room 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D33A6B-FC76-4C98-BD97-82A55A10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243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229A23-3134-4406-A44E-20723F06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32435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restaurant interne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BD9413-16C9-4A12-9960-1AD2EB32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FF1AD-E8CC-4467-AA18-412414A7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4297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216530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662F5D-F2D9-44B2-925B-F7DD1EDF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44196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Sources de revenus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23CE76D-BCB7-4D03-95C2-9EE8AA64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8820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Un modèle SaaS mensuel, avec installation et options avancées selon la taille du restaurant.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69CA8-959D-4F6E-A627-2A961308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5219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2C55E"/>
                </a:solidFill>
              </a:defRPr>
            </a:pPr>
            <a:r>
              <a:rPr sz="4200" b="1">
                <a:solidFill>
                  <a:srgbClr val="22C55E"/>
                </a:solidFill>
              </a:rPr>
              <a:t>2 000 DH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1E60C-A494-4F9C-9133-7089F5B2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521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Basic / mois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771BD-8D09-4D98-9484-3147EEEF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BB2A7-378F-44BC-9510-394E82B7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4838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1 restaurant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8EA19-254B-4F3F-95B3-DB68C5D6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D1551-B9E8-40C6-B2F4-9CCBFF99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4838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dashboard + tâches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B9CAF-F595-43F5-808F-D533F7E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812C3-9615-47E9-BE2C-07035A77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38750"/>
            <a:ext cx="4838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simulation + 2 caméras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72BFC-2D8F-4793-99F8-2EBC7509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5219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563EB"/>
                </a:solidFill>
              </a:defRPr>
            </a:pPr>
            <a:r>
              <a:rPr sz="4200" b="1">
                <a:solidFill>
                  <a:srgbClr val="2563EB"/>
                </a:solidFill>
              </a:rPr>
              <a:t>4 500 DH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E64E2-5B73-42B0-A935-F61E40CE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48100"/>
            <a:ext cx="521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Pro / mois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79155-F440-485A-994C-4115A018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481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1C994-F85A-47DC-AA10-4F01D86A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48150"/>
            <a:ext cx="4838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caméras réelles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A9906-A4B2-4E84-90DD-38721D9B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434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7758B-4BE1-4B34-9E14-CE33ADC4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43450"/>
            <a:ext cx="4838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POS cuisine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59F6B-5D4F-4D88-B1E2-5812DFC9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387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EEB79-C5E9-499B-8D8A-36F10DB8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38750"/>
            <a:ext cx="4838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rapports + SLA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65A40-FB05-4862-BBAB-BCEBFCC2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162300"/>
            <a:ext cx="5219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9E0B"/>
                </a:solidFill>
              </a:defRPr>
            </a:pPr>
            <a:r>
              <a:rPr sz="4200" b="1">
                <a:solidFill>
                  <a:srgbClr val="F59E0B"/>
                </a:solidFill>
              </a:rPr>
              <a:t>8 000+ DH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B78EC-1794-4CC6-AE3D-72A14AE4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848100"/>
            <a:ext cx="521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Enterprise / mois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C6113-E471-4DCB-8CEC-B3C7D836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2481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C5800E-D68A-4FEF-97C3-D830AA1A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248150"/>
            <a:ext cx="4838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multi-sites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DA2D0C-3324-425B-97C5-754E4417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7434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92BAF7-9E39-4115-B106-6AC494E0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743450"/>
            <a:ext cx="4838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support prioritaire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4A0156-2AF9-4227-8DCF-6B220F0B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2387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48CDFB-F34B-432E-ADE6-F5D1643A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238750"/>
            <a:ext cx="4838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modèles personnalisés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3E5D92-B731-4671-96BE-BC095E25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24900"/>
            <a:ext cx="16535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1827"/>
                </a:solidFill>
              </a:defRPr>
            </a:pPr>
            <a:r>
              <a:rPr sz="1950" b="1">
                <a:solidFill>
                  <a:srgbClr val="101827"/>
                </a:solidFill>
              </a:rPr>
              <a:t>Autres revenus : frais d’installation, formation staff, intégration POS, maintenance caméra.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6BFBDD-5CCC-4FE4-A8AA-F2F472CA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6F0129-A63D-41F7-AF7F-54288BAE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4297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042258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20E9DF-98C5-41CB-BEED-2DA67A33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39814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Les coûts estimés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2D87B53-1EDC-4466-889E-799DF401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0458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Les coûts dépendent du niveau d’intégration. Notre stratégie : commencer léger avec un pilote, puis intégrer progressivement.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84278-86CB-4DCF-A12F-309533C7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2DD77-97E6-44BD-B0A7-596641C8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Développement logiciel : backend, frontend, IA,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CCE2A-66EC-44F4-B126-6C945ACA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86563-CECE-42F5-BD8C-40A7C1D2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Hébergement cloud / serveur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6F609-C790-448C-A8BB-E7D57082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98ED1-6F5A-4A1B-A52E-067261C4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Maintenance et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7AF41-56A5-4116-9FF1-7DDFADFA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B5F3E-260E-4CD7-AB94-A729F444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Formation du staff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8A9AB-8442-487F-B32F-6FCF2434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4B88B-9FEB-445E-B555-DF93B341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2445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Intégration POS et caméras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EBF2A-5D8D-4CBD-93B0-2AF6818E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62300"/>
            <a:ext cx="79438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2C55E"/>
                </a:solidFill>
              </a:defRPr>
            </a:pPr>
            <a:r>
              <a:rPr sz="4200" b="1">
                <a:solidFill>
                  <a:srgbClr val="22C55E"/>
                </a:solidFill>
              </a:rPr>
              <a:t>10 000–25 000 DH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65176-79EB-44D1-92AC-122C4FA2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48100"/>
            <a:ext cx="794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installation pilote estimée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66BDF-D750-4EC3-93DD-BA22DDFB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05300"/>
            <a:ext cx="79438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9E0B"/>
                </a:solidFill>
              </a:defRPr>
            </a:pPr>
            <a:r>
              <a:rPr sz="4200" b="1">
                <a:solidFill>
                  <a:srgbClr val="F59E0B"/>
                </a:solidFill>
              </a:rPr>
              <a:t>500–2 000 DH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73FE8-7DC7-42C8-ADAD-4B5DF10D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10150"/>
            <a:ext cx="794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coût infra mensuel selon volume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4941C-A42C-48CA-96F5-FF69EF6E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67350"/>
            <a:ext cx="79438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DC2626"/>
                </a:solidFill>
              </a:defRPr>
            </a:pPr>
            <a:r>
              <a:rPr sz="4200" b="1">
                <a:solidFill>
                  <a:srgbClr val="DC2626"/>
                </a:solidFill>
              </a:rPr>
              <a:t>Variable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69064-6704-4D20-A80A-6AC257F8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153150"/>
            <a:ext cx="794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matériel caméra si non disponible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22F26-7BE2-467B-AFA0-473F0295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48EB0-0E6A-49AC-BEC1-2FC99D1B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4297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23123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D6F23C-BBBC-46E4-9C34-BFC76E09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4229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Go-to-market plan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7151D4E-A832-4909-9D23-46BFD738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866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Nous commençons par prouver la valeur dans quelques restaurants pilotes avant d’élargir.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35F02-D01A-43E5-8237-6599DB29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5181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2C55E"/>
                </a:solidFill>
              </a:defRPr>
            </a:pPr>
            <a:r>
              <a:rPr sz="4200" b="1">
                <a:solidFill>
                  <a:srgbClr val="22C55E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80712-160D-4F20-BD17-9E0A73C8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518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Pilote terrain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BD518-EC43-4720-B1A4-A1616B4A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84BC0-54F0-4006-AF51-B4FCCAC9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installer chez 1–2 restaurants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E219C-99D6-47D1-AC33-89D456AC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6FDBA-F0AA-4F67-9FEF-74AA6BCD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mesurer attentes et retards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46A7E-CF37-4690-B991-D39432ED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430E7-90DF-4020-B688-E6E5E44B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adapter l’UX tablette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22F4E-44D9-4CDB-9449-A5218FFF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28850"/>
            <a:ext cx="5181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563EB"/>
                </a:solidFill>
              </a:defRPr>
            </a:pPr>
            <a:r>
              <a:rPr sz="42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080DF-F9D5-42FC-9141-D544AB36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14650"/>
            <a:ext cx="518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Partenariats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B71FC-3E3C-47C5-AA07-335C3872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337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41808-626F-43CE-BB73-E3814FCA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intégrateurs POS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FA027-8BCB-461E-A53B-0BE03816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3B086-3DBD-49FC-B74B-ED5F7B36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installateurs caméras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ACEDA-069B-4386-A2BD-598F22DA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243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829CD-30AA-4EEE-8B8A-BA3DD3D6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2435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écoles hôtelières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C078C-B8CD-4EE1-A91F-0E2D4DE0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228850"/>
            <a:ext cx="5181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9E0B"/>
                </a:solidFill>
              </a:defRPr>
            </a:pPr>
            <a:r>
              <a:rPr sz="4200" b="1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55452-46E8-404F-9968-4A61E4A9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914650"/>
            <a:ext cx="518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Expansion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4E99EA-8E2E-406D-854C-EDE07056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3337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C42B8-5943-4156-A53E-06392E6B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33375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abonnement SaaS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3DE1A-0DC0-41BD-996F-846197EC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8290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956F81-9078-4ECA-82E3-7F49931F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82905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références clients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2ECAB-9439-40A2-A900-267BC173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3243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9259F3-F7DA-4D75-9597-C9DA3B28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32435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offre multi-sites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18F42F-8C3F-49AB-88C6-C18EE2CB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818B5B-4BF7-4FBC-AC01-A7DFF374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4297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95799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BBE37B-5CF1-45E3-8AB6-189C6915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64579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Dimension entrepreneuriale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C6D0F9-E2BF-4E81-9488-1199BA16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77A"/>
                </a:solidFill>
              </a:defRPr>
            </a:pPr>
            <a:r>
              <a:rPr sz="1875">
                <a:solidFill>
                  <a:srgbClr val="5B677A"/>
                </a:solidFill>
              </a:rPr>
              <a:t>Le projet répond à un vrai besoin terrain avec une proposition de valeur mesurable.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8E798-F722-4253-A09D-034A6E67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BEF62-B35B-4C26-AE3F-38A67A28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Problème clair : surcharge opérationnelle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5786E-C13D-44B6-8DAE-EAE1CF45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7C11E-B4CC-4FAD-9883-F8488201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7185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Client cible identifiable : restaurants et chaînes locales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7F61E-301C-4668-8EBF-C08BEF0C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6C0BE-CB05-4987-A8FB-E08B8AA5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Revenu récurrent : abonnement mensuel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52A47-62AD-4CE6-B2D4-B22A9D36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B13A7-50B2-4F40-A96D-96C85C4A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MVP démontrable : application fonctionnelle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3F86B-0D74-45E3-A823-2210BE31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24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4F25B-9773-4E1F-ABC7-3D6E3AAE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57750"/>
            <a:ext cx="756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Possibilité de pivoter vers hôtels, cafés ou franchises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D9042-4C45-4CC8-9513-0873E471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95600"/>
            <a:ext cx="79438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2C55E"/>
                </a:solidFill>
              </a:defRPr>
            </a:pPr>
            <a:r>
              <a:rPr sz="4200" b="1">
                <a:solidFill>
                  <a:srgbClr val="22C55E"/>
                </a:solidFill>
              </a:rPr>
              <a:t>Valeur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F665F-0EA0-4CAC-B281-82A2EEBB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81400"/>
            <a:ext cx="794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réduire attente et retards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C0CFA-772B-4411-9480-B5FC0F57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57650"/>
            <a:ext cx="79438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563EB"/>
                </a:solidFill>
              </a:defRPr>
            </a:pPr>
            <a:r>
              <a:rPr sz="4200" b="1">
                <a:solidFill>
                  <a:srgbClr val="2563EB"/>
                </a:solidFill>
              </a:rPr>
              <a:t>Différenciation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2FBB0-357F-4E35-AA90-840C30B3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62500"/>
            <a:ext cx="794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IA décisionnelle + digital twin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9E167-2CD6-4C92-9FC2-3726720F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238750"/>
            <a:ext cx="79438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9E0B"/>
                </a:solidFill>
              </a:defRPr>
            </a:pPr>
            <a:r>
              <a:rPr sz="4200" b="1">
                <a:solidFill>
                  <a:srgbClr val="F59E0B"/>
                </a:solidFill>
              </a:rPr>
              <a:t>Scalabilité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13B2B-DC92-48E6-927D-58AF1678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924550"/>
            <a:ext cx="794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SaaS + intégrations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2A386-DF3F-4F1A-98F2-82D0D33F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Smart Restaurant Operating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A6E5A-7BEF-49D3-A600-A3EB7231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94297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</a:defRPr>
            </a:pPr>
            <a:r>
              <a:rPr sz="1050">
                <a:solidFill>
                  <a:srgbClr val="5B677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111037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12AA2-A7A8-4058-83CD-676F6A91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8CD7C-2627-4D86-849E-31EA089E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5048A-13B0-4A5C-A248-ED9C6497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14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Le restaurant du futur ne surveille pas seulement.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432D0-1242-4520-9C42-42615481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3144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22C55E"/>
                </a:solidFill>
              </a:defRPr>
            </a:pPr>
            <a:r>
              <a:rPr sz="6450" b="1">
                <a:solidFill>
                  <a:srgbClr val="22C55E"/>
                </a:solidFill>
              </a:rPr>
              <a:t>Il comprend. Il décide. Il guide.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50E08-568E-4F15-A4C9-81D0A8DA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95550"/>
            <a:ext cx="108775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BD5E1"/>
                </a:solidFill>
              </a:defRPr>
            </a:pPr>
            <a:r>
              <a:rPr sz="2250">
                <a:solidFill>
                  <a:srgbClr val="CBD5E1"/>
                </a:solidFill>
              </a:rPr>
              <a:t>Smart Restaurant OS transforme chaque caméra, chaque table et chaque action du staff en un avantage opérationnel.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6E9A3-887E-48B8-BAF6-498A2E89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3144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Merci.</a:t>
            </a:r>
          </a:p>
        </p:txBody>
      </p:sp>
    </p:spTree>
    <p:extLst>
      <p:ext uri="{BB962C8B-B14F-4D97-AF65-F5344CB8AC3E}">
        <p14:creationId xmlns:p14="http://schemas.microsoft.com/office/powerpoint/2010/main" val="1198561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2026-04-29T00:52:15.1560000Z</dcterms:created>
  <dcterms:modified xsi:type="dcterms:W3CDTF">2026-04-29T00:52:15.1560000Z</dcterms:modified>
</coreProperties>
</file>