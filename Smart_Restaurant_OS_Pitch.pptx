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0ff0d14d64f24" /><Relationship Type="http://schemas.openxmlformats.org/officeDocument/2006/relationships/extended-properties" Target="/docProps/app.xml" Id="Ra4a533dd33e3404b" /><Relationship Type="http://schemas.openxmlformats.org/officeDocument/2006/relationships/officeDocument" Target="/ppt/presentation.xml" Id="R65289646a1dd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c4348cce04d06"/>
  </p:sldMasterIdLst>
  <p:notesMasterIdLst>
    <p:notesMasterId xmlns:r="http://schemas.openxmlformats.org/officeDocument/2006/relationships" r:id="R34b98e93cae4453f"/>
  </p:notesMasterIdLst>
  <p:sldIdLst>
    <p:sldId xmlns:r="http://schemas.openxmlformats.org/officeDocument/2006/relationships" id="256" r:id="R6dab1498b5cb4fa0"/>
    <p:sldId xmlns:r="http://schemas.openxmlformats.org/officeDocument/2006/relationships" id="257" r:id="Rcaa7abae550945ef"/>
    <p:sldId xmlns:r="http://schemas.openxmlformats.org/officeDocument/2006/relationships" id="258" r:id="Raccef53147c44a62"/>
    <p:sldId xmlns:r="http://schemas.openxmlformats.org/officeDocument/2006/relationships" id="259" r:id="Rdd8865cb1e5d43ca"/>
    <p:sldId xmlns:r="http://schemas.openxmlformats.org/officeDocument/2006/relationships" id="260" r:id="R0b4bbc6af3024ce6"/>
    <p:sldId xmlns:r="http://schemas.openxmlformats.org/officeDocument/2006/relationships" id="261" r:id="R88c053291caf408a"/>
    <p:sldId xmlns:r="http://schemas.openxmlformats.org/officeDocument/2006/relationships" id="262" r:id="R1e098181a95e4c6d"/>
    <p:sldId xmlns:r="http://schemas.openxmlformats.org/officeDocument/2006/relationships" id="263" r:id="R40d6019ec26144bf"/>
    <p:sldId xmlns:r="http://schemas.openxmlformats.org/officeDocument/2006/relationships" id="264" r:id="Rdda5616719854a1a"/>
    <p:sldId xmlns:r="http://schemas.openxmlformats.org/officeDocument/2006/relationships" id="265" r:id="Rce5798de6bc643b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c4348cce04d06" /><Relationship Type="http://schemas.openxmlformats.org/officeDocument/2006/relationships/theme" Target="/ppt/theme/theme1.xml" Id="R376a3df4b5484b6b" /><Relationship Type="http://schemas.openxmlformats.org/officeDocument/2006/relationships/notesMaster" Target="/ppt/notesMasters/notesMaster1.xml" Id="R34b98e93cae4453f" /><Relationship Type="http://schemas.openxmlformats.org/officeDocument/2006/relationships/presProps" Target="/ppt/presProps.xml" Id="Rf987f615d30e43ca" /><Relationship Type="http://schemas.openxmlformats.org/officeDocument/2006/relationships/viewProps" Target="/ppt/viewProps.xml" Id="Rce25dd524ec74e2d" /><Relationship Type="http://schemas.openxmlformats.org/officeDocument/2006/relationships/tableStyles" Target="/ppt/tableStyles.xml" Id="Red715ffb049f4328" /><Relationship Type="http://schemas.openxmlformats.org/officeDocument/2006/relationships/slide" Target="/ppt/slides/slide1.xml" Id="R6dab1498b5cb4fa0" /><Relationship Type="http://schemas.openxmlformats.org/officeDocument/2006/relationships/slide" Target="/ppt/slides/slide2.xml" Id="Rcaa7abae550945ef" /><Relationship Type="http://schemas.openxmlformats.org/officeDocument/2006/relationships/slide" Target="/ppt/slides/slide3.xml" Id="Raccef53147c44a62" /><Relationship Type="http://schemas.openxmlformats.org/officeDocument/2006/relationships/slide" Target="/ppt/slides/slide4.xml" Id="Rdd8865cb1e5d43ca" /><Relationship Type="http://schemas.openxmlformats.org/officeDocument/2006/relationships/slide" Target="/ppt/slides/slide5.xml" Id="R0b4bbc6af3024ce6" /><Relationship Type="http://schemas.openxmlformats.org/officeDocument/2006/relationships/slide" Target="/ppt/slides/slide6.xml" Id="R88c053291caf408a" /><Relationship Type="http://schemas.openxmlformats.org/officeDocument/2006/relationships/slide" Target="/ppt/slides/slide7.xml" Id="R1e098181a95e4c6d" /><Relationship Type="http://schemas.openxmlformats.org/officeDocument/2006/relationships/slide" Target="/ppt/slides/slide8.xml" Id="R40d6019ec26144bf" /><Relationship Type="http://schemas.openxmlformats.org/officeDocument/2006/relationships/slide" Target="/ppt/slides/slide9.xml" Id="Rdda5616719854a1a" /><Relationship Type="http://schemas.openxmlformats.org/officeDocument/2006/relationships/slide" Target="/ppt/slides/slide10.xml" Id="Rce5798de6bc643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b0973282e86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130d1ed61240c3" /><Relationship Type="http://schemas.openxmlformats.org/officeDocument/2006/relationships/notesMaster" Target="/ppt/notesMasters/notesMaster1.xml" Id="R8f5331bf0967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78b4877674003" /><Relationship Type="http://schemas.openxmlformats.org/officeDocument/2006/relationships/notesMaster" Target="/ppt/notesMasters/notesMaster1.xml" Id="Rd85ae9a267524c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723e9202004cbe" /><Relationship Type="http://schemas.openxmlformats.org/officeDocument/2006/relationships/notesMaster" Target="/ppt/notesMasters/notesMaster1.xml" Id="Re2e26359745145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9919aa53845e7" /><Relationship Type="http://schemas.openxmlformats.org/officeDocument/2006/relationships/notesMaster" Target="/ppt/notesMasters/notesMaster1.xml" Id="R64afeb97aaa0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42492fe11499e" /><Relationship Type="http://schemas.openxmlformats.org/officeDocument/2006/relationships/notesMaster" Target="/ppt/notesMasters/notesMaster1.xml" Id="R0102048da78345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c1967de9f4b7d" /><Relationship Type="http://schemas.openxmlformats.org/officeDocument/2006/relationships/notesMaster" Target="/ppt/notesMasters/notesMaster1.xml" Id="R3a69925c7a8e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fe5a5ab624547" /><Relationship Type="http://schemas.openxmlformats.org/officeDocument/2006/relationships/notesMaster" Target="/ppt/notesMasters/notesMaster1.xml" Id="Rb579ab8d4952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626a50a204b21" /><Relationship Type="http://schemas.openxmlformats.org/officeDocument/2006/relationships/notesMaster" Target="/ppt/notesMasters/notesMaster1.xml" Id="R9392005e8c03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732df0e8d940ab" /><Relationship Type="http://schemas.openxmlformats.org/officeDocument/2006/relationships/notesMaster" Target="/ppt/notesMasters/notesMaster1.xml" Id="Re75e83aaf5e344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f4e9dffc8a4cb6" /><Relationship Type="http://schemas.openxmlformats.org/officeDocument/2006/relationships/notesMaster" Target="/ppt/notesMasters/notesMaster1.xml" Id="Rabba4a96cefb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1f91cd3e54b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944faa33d6644a2" /><Relationship Type="http://schemas.openxmlformats.org/officeDocument/2006/relationships/slideLayout" Target="/ppt/slideLayouts/slideLayout2.xml" Id="R30bd938a253e48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d938a253e48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de3ffaed642d8" /><Relationship Type="http://schemas.openxmlformats.org/officeDocument/2006/relationships/notesSlide" Target="/ppt/notesSlides/notesSlide1.xml" Id="R4f928765c52c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9c35f1a9544f6" /><Relationship Type="http://schemas.openxmlformats.org/officeDocument/2006/relationships/notesSlide" Target="/ppt/notesSlides/notesSlide2.xml" Id="Rdbe6d0989e6a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63eb93a1c459f" /><Relationship Type="http://schemas.openxmlformats.org/officeDocument/2006/relationships/image" Target="/ppt/media/image.png" Id="Ra9b81bcec9644b1d" /><Relationship Type="http://schemas.openxmlformats.org/officeDocument/2006/relationships/notesSlide" Target="/ppt/notesSlides/notesSlide3.xml" Id="Rb8f1b863fad0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bfd0408874e75" /><Relationship Type="http://schemas.openxmlformats.org/officeDocument/2006/relationships/notesSlide" Target="/ppt/notesSlides/notesSlide4.xml" Id="Ra3f676d68665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3682af5864638" /><Relationship Type="http://schemas.openxmlformats.org/officeDocument/2006/relationships/notesSlide" Target="/ppt/notesSlides/notesSlide5.xml" Id="R73191ac98b6b45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f978ea59d4c69" /><Relationship Type="http://schemas.openxmlformats.org/officeDocument/2006/relationships/image" Target="/ppt/media/image2.png" Id="Radc273076754443d" /><Relationship Type="http://schemas.openxmlformats.org/officeDocument/2006/relationships/notesSlide" Target="/ppt/notesSlides/notesSlide6.xml" Id="Ra76984edbebe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073d2013f54b7f" /><Relationship Type="http://schemas.openxmlformats.org/officeDocument/2006/relationships/notesSlide" Target="/ppt/notesSlides/notesSlide7.xml" Id="Ref1b509d04f0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559c463eb4141" /><Relationship Type="http://schemas.openxmlformats.org/officeDocument/2006/relationships/notesSlide" Target="/ppt/notesSlides/notesSlide8.xml" Id="Rc289093e076741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45b1481de24526" /><Relationship Type="http://schemas.openxmlformats.org/officeDocument/2006/relationships/notesSlide" Target="/ppt/notesSlides/notesSlide9.xml" Id="Ra8d79429b4ac4a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6f8726bf094387" /><Relationship Type="http://schemas.openxmlformats.org/officeDocument/2006/relationships/notesSlide" Target="/ppt/notesSlides/notesSlide10.xml" Id="Rcc10884a0dec47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9FA87248-4854-442A-8222-E519924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2" name="green-plane">
            <a:extLst xmlns:a="http://schemas.openxmlformats.org/drawingml/2006/main">
              <a:ext uri="{FF2B5EF4-FFF2-40B4-BE49-F238E27FC236}">
                <a16:creationId xmlns:a16="http://schemas.microsoft.com/office/drawing/2014/main" id="{68FC52DF-5098-4B42-AE6A-7277DBE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B2D"/>
          </a:solidFill>
        </p:spPr>
      </p:sp>
      <p:sp>
        <p:nvSpPr>
          <p:cNvPr id="3" name="signal-line-1">
            <a:extLst xmlns:a="http://schemas.openxmlformats.org/drawingml/2006/main">
              <a:ext uri="{FF2B5EF4-FFF2-40B4-BE49-F238E27FC236}">
                <a16:creationId xmlns:a16="http://schemas.microsoft.com/office/drawing/2014/main" id="{FA76162F-8DFD-489C-B09F-A0B3423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</p:sp>
      <p:sp>
        <p:nvSpPr>
          <p:cNvPr id="4" name="pill-AI + IoT">
            <a:extLst xmlns:a="http://schemas.openxmlformats.org/drawingml/2006/main">
              <a:ext uri="{FF2B5EF4-FFF2-40B4-BE49-F238E27FC236}">
                <a16:creationId xmlns:a16="http://schemas.microsoft.com/office/drawing/2014/main" id="{5E5FA786-17C9-46A1-86AC-20E4F5A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8205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271AF-6E22-4FD2-A0EB-7639153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+ IoT</a:t>
            </a:r>
          </a:p>
        </p:txBody>
      </p:sp>
      <p:sp>
        <p:nvSpPr>
          <p:cNvPr id="6" name="pill-Restaurant Ops">
            <a:extLst xmlns:a="http://schemas.openxmlformats.org/drawingml/2006/main">
              <a:ext uri="{FF2B5EF4-FFF2-40B4-BE49-F238E27FC236}">
                <a16:creationId xmlns:a16="http://schemas.microsoft.com/office/drawing/2014/main" id="{DF0C83AB-6239-4714-A499-500F4229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" y="0"/>
            <a:ext cx="1429988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FBC01-9507-4FF4-847A-34F467C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5250"/>
            <a:ext cx="1085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Restaurant Ops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0571E03-E537-40EA-A5DD-03DED9F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000125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FFFFF"/>
                </a:solidFill>
              </a:defRPr>
            </a:pPr>
            <a:r>
              <a:rPr sz="7050" b="1">
                <a:solidFill>
                  <a:srgbClr val="FFFFFF"/>
                </a:solidFill>
              </a:rPr>
              <a:t>Smart Restaurant</a:t>
            </a:r>
          </a:p>
          <a:p xmlns:a="http://schemas.openxmlformats.org/drawingml/2006/main">
            <a:pPr>
              <a:defRPr sz="7050" b="1">
                <a:solidFill>
                  <a:srgbClr val="FFFFFF"/>
                </a:solidFill>
              </a:defRPr>
            </a:pPr>
            <a:r>
              <a:rPr sz="7050" b="1">
                <a:solidFill>
                  <a:srgbClr val="FFFFFF"/>
                </a:solidFill>
              </a:rPr>
              <a:t>Operating System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1E3FEE3-C48D-4606-9FD0-17BD316B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71850"/>
            <a:ext cx="857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9D5E1"/>
                </a:solidFill>
              </a:defRPr>
            </a:pPr>
            <a:r>
              <a:rPr sz="2250">
                <a:solidFill>
                  <a:srgbClr val="C9D5E1"/>
                </a:solidFill>
              </a:rPr>
              <a:t>A real-time decision engine that helps staff manage tables, guests, kitchen delays, and camera signals from one tablet.</a:t>
            </a:r>
          </a:p>
        </p:txBody>
      </p:sp>
      <p:sp>
        <p:nvSpPr>
          <p:cNvPr id="10" name="names">
            <a:extLst xmlns:a="http://schemas.openxmlformats.org/drawingml/2006/main">
              <a:ext uri="{FF2B5EF4-FFF2-40B4-BE49-F238E27FC236}">
                <a16:creationId xmlns:a16="http://schemas.microsoft.com/office/drawing/2014/main" id="{2C96FCD8-2563-4C06-B517-62682A18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3581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8B6C8"/>
                </a:solidFill>
              </a:defRPr>
            </a:pPr>
            <a:r>
              <a:rPr sz="1650">
                <a:solidFill>
                  <a:srgbClr val="A8B6C8"/>
                </a:solidFill>
              </a:rPr>
              <a:t>Prepared by: [Your Name] • [Team / Class]</a:t>
            </a:r>
          </a:p>
          <a:p xmlns:a="http://schemas.openxmlformats.org/drawingml/2006/main">
            <a:pPr>
              <a:defRPr sz="1650">
                <a:solidFill>
                  <a:srgbClr val="A8B6C8"/>
                </a:solidFill>
              </a:defRPr>
            </a:pPr>
            <a:r>
              <a:rPr sz="1650">
                <a:solidFill>
                  <a:srgbClr val="A8B6C8"/>
                </a:solidFill>
              </a:rPr>
              <a:t>Pitch deck •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7A009-0873-4B24-9191-B99EDCC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C55E"/>
                </a:solidFill>
              </a:defRPr>
            </a:pPr>
            <a:r>
              <a:rPr sz="4350" b="1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3C9EE-D068-4BDB-A2BB-4010C693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542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centralized operations 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84E1C-CD84-4E50-9F90-1C9D84C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542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3C5FD"/>
                </a:solidFill>
              </a:defRPr>
            </a:pPr>
            <a:r>
              <a:rPr sz="4350" b="1">
                <a:solidFill>
                  <a:srgbClr val="93C5FD"/>
                </a:solidFill>
              </a:rPr>
              <a:t>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F1B11-CA0E-445A-9503-DB07357E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2150"/>
            <a:ext cx="542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tables in the digital twin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13040-43B1-413B-BAC9-95FB8B2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542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BBF24"/>
                </a:solidFill>
              </a:defRPr>
            </a:pPr>
            <a:r>
              <a:rPr sz="4350" b="1">
                <a:solidFill>
                  <a:srgbClr val="FBBF24"/>
                </a:solidFill>
              </a:rPr>
              <a:t>3+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509D5-DB22-47F9-A2EB-D86F7FB8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1350"/>
            <a:ext cx="542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camera/sensor feeds fused</a:t>
            </a:r>
          </a:p>
        </p:txBody>
      </p:sp>
    </p:spTree>
    <p:extLst>
      <p:ext uri="{BB962C8B-B14F-4D97-AF65-F5344CB8AC3E}">
        <p14:creationId xmlns:p14="http://schemas.microsoft.com/office/powerpoint/2010/main" val="20488999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131EA6-508A-4E0C-85B9-7FA63876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13582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Restaurants operate in real time. Their tools usually do not.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A7B169-D702-44D2-9674-9A67E586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1582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Managers and staff must constantly reconcile what guests need, what the kitchen is doing, and where people are on the floor.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346F8-FBB2-4018-A4F0-FAC2ED3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4B64F-A990-409B-AF30-D434F93E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Guests wait without visibility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63FF-B246-4EF2-89A1-13BC443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97D7-52E6-4A1D-98B5-BD0E9D6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Tables sit dirty while hosts need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FF82F-A3D2-46D0-A828-A36C052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71B47-62EA-49AA-8F0C-1AD57501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Waiters lose time deciding what is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2068C-D171-4DAB-8E9B-26B598CF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AB2DB-9B6B-4D79-B020-AAC06B0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Kitchen delays are noticed 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49EDF-314F-40CE-AFC7-5E568E7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9749D-71E0-4344-ABC9-DB9EAEC7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Camera data is isolated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9BEE0-E9B1-44E8-AC15-B989B2E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80A7A-A14E-460D-919B-972C6327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91000"/>
            <a:ext cx="4857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Manual updates become unreliable during rush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45C39-AB0D-4819-87E6-B6E634A5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1813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887BE-3E25-437A-AA69-B51EC13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1813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Managers see symptoms, not root causes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5C23F-1325-46D3-BC96-CE7912C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6766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D241A-A78C-4145-A16E-F95CF4E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676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Priorities compete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DC045-ADED-4763-9A26-78DB6D89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1910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1959E-6750-4DEF-8D7B-102C531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9100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Staff overload turns into service failures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47DEDEB-45AE-4C57-AD6F-61B4397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DCA53A-C808-445C-A043-51FB8C8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4042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07BFD8-D93D-46F8-A272-E4D416C2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12954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The solution: a restaurant operating system, not another dashboard.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F11716-B0B8-44EB-88FA-F90F080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963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It continuously understands the floor, computes the best next action, and guides staff through the shift.</a:t>
            </a:r>
          </a:p>
        </p:txBody>
      </p:sp>
      <p:pic>
        <p:nvPicPr>
          <p:cNvPr id="3" name="today-u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81bcec9644b1d"/>
          <a:stretch xmlns:a="http://schemas.openxmlformats.org/drawingml/2006/main"/>
        </p:blipFill>
        <p:spPr>
          <a:xfrm xmlns:a="http://schemas.openxmlformats.org/drawingml/2006/main">
            <a:off x="876300" y="3135630"/>
            <a:ext cx="9906000" cy="5905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21D1-86C8-4F1C-8E60-A6CB7F7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43250"/>
            <a:ext cx="6248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C55E"/>
                </a:solidFill>
              </a:defRPr>
            </a:pPr>
            <a:r>
              <a:rPr sz="4350" b="1">
                <a:solidFill>
                  <a:srgbClr val="22C55E"/>
                </a:solidFill>
              </a:rPr>
              <a:t>Next best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0BC78-B598-4A47-A260-EFFC5D7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6715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one clear instruction instead of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199CA-726D-430B-8969-7DEE2E5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362450"/>
            <a:ext cx="6248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Explainable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E6C6D-4AB9-4309-99B7-A9E132F9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0540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waiting time + group size + urgency + congestion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48197-92FD-4C8B-A25E-D052F6CD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581650"/>
            <a:ext cx="6248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Staff-aware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67003-A004-4143-A487-B636A85E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2460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assigns tasks by availability and walking distance</a:t>
            </a:r>
          </a:p>
        </p:txBody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B094FC9-3181-46BD-B310-F5F69F8D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E8D8BA-12FF-4E54-A8D5-8D18598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91437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A06620-4431-4C91-B6C0-F6E4F01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12973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How it works: every signal becomes one operating brain.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069C43-C86D-43A5-AEE6-FD16FB4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The app turns camera events, POS updates, and staff confirmations into a single live model of the restaurant.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DAED0-66EA-4004-A3DC-66D82B3F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766D2-15B1-46C5-9280-C7F52C3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Cameras + Sensors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8C60F-ECA7-4CE7-9DA5-3796CE53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05D0C-8B51-49E0-A424-89BD697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396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entrance, tables, queue, kitchen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2F08A-CC71-4345-9D19-9618FF7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37C57-8D7B-4F3C-A9CD-81081CF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Digital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80C48-3DF0-4AF3-B658-8E445FD8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433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EB457-1A69-4FA5-8BA8-C205752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71900"/>
            <a:ext cx="396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tables, clients, staff,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45936-FA3D-4EB4-B944-8032ED02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C55E"/>
                </a:solidFill>
              </a:defRPr>
            </a:pPr>
            <a:r>
              <a:rPr sz="3450" b="1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0170B-EA3D-4B31-96E7-093D23A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Decision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3EC1F-8A9B-4D36-BB10-EE62348F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2AE24-15EE-4F77-BC9D-F8B1E74F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396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rules + optimizer + risk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2820B-198F-44FE-AE7C-D834B9C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2479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BF959-6496-4962-A2F5-01E5EDBA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95275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Tablet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81732-2323-4BE4-BDBC-4430F4F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5433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281AF-1B41-4DD0-A7FD-09C3C5BD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771900"/>
            <a:ext cx="396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tasks, alerts, confirmations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79B15C7-7B1B-4C65-BD34-1B32F681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AFED2F-2CA5-4183-A929-825BD12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68105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bg">
            <a:extLst xmlns:a="http://schemas.openxmlformats.org/drawingml/2006/main">
              <a:ext uri="{FF2B5EF4-FFF2-40B4-BE49-F238E27FC236}">
                <a16:creationId xmlns:a16="http://schemas.microsoft.com/office/drawing/2014/main" id="{F8FBCF01-CA34-4188-9B8B-1EF9420F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F8491-8FDE-4403-99A2-02899434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AI decision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E444F-9C5B-4219-ABCC-C32C292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9D5E1"/>
                </a:solidFill>
              </a:defRPr>
            </a:pPr>
            <a:r>
              <a:rPr sz="2100">
                <a:solidFill>
                  <a:srgbClr val="C9D5E1"/>
                </a:solidFill>
              </a:rPr>
              <a:t>The system does not only alert. It decides what matters most and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082F6-6E5D-43E1-8E63-EED736F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8724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2C55E"/>
                </a:solidFill>
              </a:defRPr>
            </a:pPr>
            <a:r>
              <a:rPr sz="2850" b="1">
                <a:solidFill>
                  <a:srgbClr val="22C55E"/>
                </a:solidFill>
              </a:rPr>
              <a:t>Priority = waiting time + group size + stage urgency + idle time + congestion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B6A35-C3EE-446A-9DEF-B60E673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A8CE7-A132-4967-A67E-FE2961FB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Validates state transitions before acting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D09D-5DE3-428D-9F33-47592AE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61809-5FA3-4C51-BB5E-D07CFEE9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Generates seat/order/serve/clean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BE2A2-70CD-4221-979C-D5A8B48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528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7902A-1D14-468B-9729-6AC947D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Assigns nearest available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0D6F5-8341-4542-8E6B-0A5E424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22D1D-73E9-4CFC-89B1-4029486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Detects overload and kitchen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61FD4-B01F-46B9-BFE3-AFEABFA8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002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3C5FD"/>
                </a:solidFill>
              </a:defRPr>
            </a:pPr>
            <a:r>
              <a:rPr sz="4350" b="1">
                <a:solidFill>
                  <a:srgbClr val="93C5FD"/>
                </a:solidFill>
              </a:rPr>
              <a:t>STRICT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BA8FE-21AE-48BE-B7C7-9D68055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invalid actions are 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C8FC5-3EAC-4EC9-B9BF-D3EEEE1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194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C55E"/>
                </a:solidFill>
              </a:defRPr>
            </a:pPr>
            <a:r>
              <a:rPr sz="4350" b="1">
                <a:solidFill>
                  <a:srgbClr val="22C55E"/>
                </a:solidFill>
              </a:rPr>
              <a:t>REAL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3A1C0-1494-4AB4-BC64-87C5BCE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decisions refresh as events arrive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DCAEC-4EC7-402B-8752-6E60249E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386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BBF24"/>
                </a:solidFill>
              </a:defRPr>
            </a:pPr>
            <a:r>
              <a:rPr sz="4350" b="1">
                <a:solidFill>
                  <a:srgbClr val="FBBF24"/>
                </a:solidFill>
              </a:rPr>
              <a:t>EXPLAINABLE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24AC-F1BF-4123-BB46-DD802C8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8155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each task shows its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79A6B-5F6E-4EBA-945E-1E3D1D70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868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FA3B8"/>
                </a:solidFill>
              </a:defRPr>
            </a:pPr>
            <a:r>
              <a:rPr sz="1275">
                <a:solidFill>
                  <a:srgbClr val="8FA3B8"/>
                </a:solidFill>
              </a:rPr>
              <a:t>Backend logic: FastAPI + state machine + rules + optimizer + SQLite audit trail</a:t>
            </a:r>
          </a:p>
        </p:txBody>
      </p:sp>
    </p:spTree>
    <p:extLst>
      <p:ext uri="{BB962C8B-B14F-4D97-AF65-F5344CB8AC3E}">
        <p14:creationId xmlns:p14="http://schemas.microsoft.com/office/powerpoint/2010/main" val="9067960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151C4-45AF-4B1E-89D3-602880B2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5676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Centralized camera brain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E07673-6DE4-4F59-AEC3-F1223C8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36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Multiple camera feeds are fused into one restaurant-level signal: people, staff, line crossings, zone load, and recommendations.</a:t>
            </a:r>
          </a:p>
        </p:txBody>
      </p:sp>
      <p:pic>
        <p:nvPicPr>
          <p:cNvPr id="3" name="camera-u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273076754443d"/>
          <a:stretch xmlns:a="http://schemas.openxmlformats.org/drawingml/2006/main"/>
        </p:blipFill>
        <p:spPr>
          <a:xfrm xmlns:a="http://schemas.openxmlformats.org/drawingml/2006/main">
            <a:off x="876300" y="2472690"/>
            <a:ext cx="9715500" cy="656844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542A2-7659-4FFC-819F-5F5E6E04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476500"/>
            <a:ext cx="641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Dining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7661B-F048-4C6F-B1DE-9D7AD4E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641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table occupancy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21E86-9205-47F6-8C75-87D2581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714750"/>
            <a:ext cx="641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2931F-B62F-4A24-BA86-EF74F44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457700"/>
            <a:ext cx="641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movement and staff pressure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5C4A8-3B47-4028-953F-E0E98610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953000"/>
            <a:ext cx="641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C55E"/>
                </a:solidFill>
              </a:defRPr>
            </a:pPr>
            <a:r>
              <a:rPr sz="4350" b="1">
                <a:solidFill>
                  <a:srgbClr val="22C55E"/>
                </a:solidFill>
              </a:rPr>
              <a:t>Kitchen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4964D-EC5A-4893-A237-FFE9E12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695950"/>
            <a:ext cx="641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production load and delay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36FF2-CB97-4D7F-AAFA-8F32F03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6419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A"/>
                </a:solidFill>
              </a:defRPr>
            </a:pPr>
            <a:r>
              <a:rPr sz="1500">
                <a:solidFill>
                  <a:srgbClr val="5B677A"/>
                </a:solidFill>
              </a:rPr>
              <a:t>Current prototype uses real demo videos with simulated CV metadata. Production path: RTSP + YOLO/ByteTrack/OpenDataCam or Axis/Camlytics metadata into /sensors/webhook.</a:t>
            </a:r>
          </a:p>
        </p:txBody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DBE1AC-4299-4C2D-844E-DA568E1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3F1928-2B49-4E8D-BD17-446A6FB0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71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A6C3E3-D56F-4920-88FF-580816D7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59817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Built for staff with tablets.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D04C9B-FED6-475B-BE54-9B66AFB7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79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The interface reduces cognitive load during rush: one next action, one reason, one confirmation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3A067-F9E9-4C02-8169-2BB6031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5219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E5FAF-1C35-4506-9F92-2C17734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B222-5CC6-49C3-B318-9B49E45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see waiting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E6DD0-BCDD-48EB-9723-DC4EE35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839A2-9A4B-485F-B21C-AE2111D3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seat groups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B4C7-5271-4D4B-A350-5DA4876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9567-6E4D-4639-863B-28CCD1E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unlock table 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8E9B3-932C-442F-A99F-1963032F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5219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C55E"/>
                </a:solidFill>
              </a:defRPr>
            </a:pPr>
            <a:r>
              <a:rPr sz="3150" b="1">
                <a:solidFill>
                  <a:srgbClr val="22C55E"/>
                </a:solidFill>
              </a:rPr>
              <a:t>Waiter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CFCD4-DC81-48C4-928F-B155945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B8BDF-A132-49C2-8FA8-47DC674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accept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719C4-501C-42E2-AB6E-D31339C1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7580B-46D7-4538-8638-68EFE4BC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start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A8E12-9218-4182-9CCE-3DA96401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816A0-F17F-47D3-89DA-BBD673AE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mark 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4031F-67FE-4672-8E27-2894C998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181350"/>
            <a:ext cx="5219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5C536-CB4F-4266-9868-A4A9FCC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48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2CC98-CC25-4260-B458-B6B962B6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84810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configure cameras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8BB60-2EA9-4301-AC4F-7996475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362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3EC5F-360F-4BDC-A2B1-3B9D7DB3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3624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run 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69833-B2BD-4F6C-9005-48EC8B72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8577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F1FA6-33F8-473D-A36C-37DD22F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857750"/>
            <a:ext cx="480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track audit/report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C447539-E8F5-407E-9FEF-2C9A8BC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3B2A52-6152-4DE6-893C-0615A3B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05441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61575A-63C5-4277-AA47-0D3DC5F5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095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What exists today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742F06-6B5C-44AD-ABDF-ED78FC2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131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The prototype is more than a mockup: it is a working local system with frontend, backend, state logic, and simulation.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DAEC9-705D-46C1-A1EE-14BAFC6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Digital twin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82B99-8E5D-471F-8C4B-E965907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14-table state machine with zones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D661F-175A-4FD4-93AD-8BB6BA4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C55E"/>
                </a:solidFill>
              </a:defRPr>
            </a:pPr>
            <a:r>
              <a:rPr sz="2400" b="1">
                <a:solidFill>
                  <a:srgbClr val="22C55E"/>
                </a:solidFill>
              </a:rPr>
              <a:t>Strict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B555B-C2A5-466C-B06E-1AEAE68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rejects impossible transitions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2D22F-0AD8-4504-A678-0B5337D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20980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Task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28095-3610-458F-8824-A263B88C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68605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new, accepted, in progress, done, expired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05722-3A36-4CE7-9CD4-83BE413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C55E"/>
                </a:solidFill>
              </a:defRPr>
            </a:pPr>
            <a:r>
              <a:rPr sz="2400" b="1">
                <a:solidFill>
                  <a:srgbClr val="22C55E"/>
                </a:solidFill>
              </a:rPr>
              <a:t>POS/Kitchen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330E5-3426-416D-93A2-956309E3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484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orders, food ready, delayed 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0A726-804B-4354-9B0D-D23226EE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7215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Camera brain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57C35-EE22-44D1-844E-E86FF0EA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484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multi-camera fused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8D50A-611C-4826-8598-2065723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772150"/>
            <a:ext cx="529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C55E"/>
                </a:solidFill>
              </a:defRPr>
            </a:pPr>
            <a:r>
              <a:rPr sz="2400" b="1">
                <a:solidFill>
                  <a:srgbClr val="22C55E"/>
                </a:solidFill>
              </a:rPr>
              <a:t>Audit trail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68A82-8FC2-4075-A790-95422FB0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484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A"/>
                </a:solidFill>
              </a:defRPr>
            </a:pPr>
            <a:r>
              <a:rPr sz="1650">
                <a:solidFill>
                  <a:srgbClr val="5B677A"/>
                </a:solidFill>
              </a:rPr>
              <a:t>every decision and event logged</a:t>
            </a:r>
          </a:p>
        </p:txBody>
      </p:sp>
      <p:sp>
        <p:nvSpPr>
          <p:cNvPr id="1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144A00F-5EB9-412D-87AC-7367D64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4B7D31-1741-45B5-8BE8-0D6F521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3538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5C0E52-F4AE-40CD-AAC4-619558B9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6572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Why it matters commercially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32215E-CC98-4B46-B37B-22ED03D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1601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Restaurants win when service flow is predictable, staff effort is focused, and managers can see bottlenecks before guests feel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C321-5851-4976-BD90-8B81FA4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C55E"/>
                </a:solidFill>
              </a:defRPr>
            </a:pPr>
            <a:r>
              <a:rPr sz="4350" b="1">
                <a:solidFill>
                  <a:srgbClr val="22C55E"/>
                </a:solidFill>
              </a:rPr>
              <a:t>Shorter waits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2A0F-A4C3-41BB-9B8C-8C8A8827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798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seat and serve before delays compound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5BAC4-3343-4826-8403-917A5A86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Higher turnover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9E260-51C0-4C93-83E0-710BB9F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798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clean and seat tables faster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357D8-6645-436E-BB12-E15BDCA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Lower overload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5A5A6-6CEA-4AA0-8EB7-7309B79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798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guide staff when complexity spikes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6ACDC-204C-468B-8D4E-4B43EF62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C2626"/>
                </a:solidFill>
              </a:defRPr>
            </a:pPr>
            <a:r>
              <a:rPr sz="4350" b="1">
                <a:solidFill>
                  <a:srgbClr val="DC2626"/>
                </a:solidFill>
              </a:rPr>
              <a:t>Better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51820-3D82-4E5A-936C-C9D8A3F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798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audit trail and shift reports</a:t>
            </a:r>
          </a:p>
        </p:txBody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A99F1EB-A180-420F-8094-809F770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28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7F39B0-9843-4DF1-AB1B-3AE543DC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63346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bg">
            <a:extLst xmlns:a="http://schemas.openxmlformats.org/drawingml/2006/main">
              <a:ext uri="{FF2B5EF4-FFF2-40B4-BE49-F238E27FC236}">
                <a16:creationId xmlns:a16="http://schemas.microsoft.com/office/drawing/2014/main" id="{5D82B3A1-C4C2-4A34-990A-70CF723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5CD2F-8AD7-4184-94FC-00478AE0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5354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Roadmap to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AE0D4-5C8B-4FBB-91AF-8F39444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003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9D5E1"/>
                </a:solidFill>
              </a:defRPr>
            </a:pPr>
            <a:r>
              <a:rPr sz="2100">
                <a:solidFill>
                  <a:srgbClr val="C9D5E1"/>
                </a:solidFill>
              </a:rPr>
              <a:t>The next milestone is to connect real restaurant data while keeping the same operating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71CD0-8E76-41DF-ACB0-A904550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523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C55E"/>
                </a:solidFill>
              </a:defRPr>
            </a:pPr>
            <a:r>
              <a:rPr sz="3300" b="1">
                <a:solidFill>
                  <a:srgbClr val="22C55E"/>
                </a:solidFill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2800B-E7F8-4786-8FEE-021B0C13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08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56304-60D6-4DCB-9507-875BD614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one restaurant floor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7A54-CD29-41EF-A06A-847C551E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86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9FA9A-6D9A-45A4-9E5A-65F95E7B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1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camera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DDD9E-0D22-435B-B404-474ABE8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04012-5F8B-4FE7-A266-666F19CA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staff tablet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E254F-31D9-4108-A7EF-D19FA103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523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3C5FD"/>
                </a:solidFill>
              </a:defRPr>
            </a:pPr>
            <a:r>
              <a:rPr sz="3300" b="1">
                <a:solidFill>
                  <a:srgbClr val="93C5FD"/>
                </a:solidFill>
              </a:rPr>
              <a:t>Integrate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36DE3-1A75-48CC-B590-347851E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3C5FD"/>
                </a:solidFill>
              </a:defRPr>
            </a:pPr>
            <a:r>
              <a:rPr sz="2100" b="1">
                <a:solidFill>
                  <a:srgbClr val="93C5FD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52F9-7E88-4DF4-81B0-6A48A11E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POS/kitchen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5EABD-1695-415F-B611-7D6ED32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3C5FD"/>
                </a:solidFill>
              </a:defRPr>
            </a:pPr>
            <a:r>
              <a:rPr sz="2100" b="1">
                <a:solidFill>
                  <a:srgbClr val="93C5FD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CA67B-3F56-4E92-98C9-B2EA159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RTSP CV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B0975-33B5-4A12-BED8-C1C8ABE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00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3C5FD"/>
                </a:solidFill>
              </a:defRPr>
            </a:pPr>
            <a:r>
              <a:rPr sz="2100" b="1">
                <a:solidFill>
                  <a:srgbClr val="93C5FD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5FF8D-91BB-4E7A-B9F2-51CF142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live manager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A44F5-E60A-425D-ADFA-099A4E6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885950"/>
            <a:ext cx="523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BBF24"/>
                </a:solidFill>
              </a:defRPr>
            </a:pPr>
            <a:r>
              <a:rPr sz="3300" b="1">
                <a:solidFill>
                  <a:srgbClr val="FBBF24"/>
                </a:solidFill>
              </a:rPr>
              <a:t>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2A890-99EA-48A1-B9CD-102D9AA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908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76928-BD41-4129-AEFD-F7A916B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5908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multi-site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F71F0-8A88-40FF-9CC1-886BB55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08610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A406F-20A6-4E0F-A558-C72E3DA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861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model calibration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18E40-8288-4714-AAEE-AA5257F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600450"/>
            <a:ext cx="266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46719-0D58-4E4A-90C5-D209EE52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6004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1827"/>
                </a:solidFill>
              </a:defRPr>
            </a:pPr>
            <a:r>
              <a:rPr sz="2025">
                <a:solidFill>
                  <a:srgbClr val="101827"/>
                </a:solidFill>
              </a:rPr>
              <a:t>SLA optimization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0636A-C59E-4BF5-806C-F19F588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Ask: partner with a restaurant to test real operations data and validate service-time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107540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2026-04-29T00:48:00.8230000Z</dcterms:created>
  <dcterms:modified xsi:type="dcterms:W3CDTF">2026-04-29T00:48:00.8240000Z</dcterms:modified>
</coreProperties>
</file>